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" panose="020B0604020202020204" charset="0"/>
      <p:regular r:id="rId18"/>
    </p:embeddedFont>
    <p:embeddedFont>
      <p:font typeface="Heebo Bold" panose="020B0604020202020204" charset="-79"/>
      <p:regular r:id="rId19"/>
    </p:embeddedFont>
    <p:embeddedFont>
      <p:font typeface="Heebo Light" pitchFamily="2" charset="-79"/>
      <p:regular r:id="rId20"/>
    </p:embeddedFont>
    <p:embeddedFont>
      <p:font typeface="Montserrat" panose="00000500000000000000" pitchFamily="2" charset="0"/>
      <p:regular r:id="rId21"/>
    </p:embeddedFont>
    <p:embeddedFont>
      <p:font typeface="Montserrat Bold" panose="00000800000000000000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6233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1749590"/>
            <a:ext cx="10437762" cy="22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77"/>
              </a:lnSpc>
            </a:pPr>
            <a:r>
              <a:rPr lang="en-US" sz="7033" b="1" dirty="0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Cross-Platform Spam Detector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7122" y="5713732"/>
            <a:ext cx="9445523" cy="3908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GB" sz="4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Group 17</a:t>
            </a:r>
          </a:p>
          <a:p>
            <a:r>
              <a:rPr lang="en-GB" sz="4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sz="4800" dirty="0">
              <a:solidFill>
                <a:schemeClr val="bg1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algn="l">
              <a:lnSpc>
                <a:spcPts val="3830"/>
              </a:lnSpc>
            </a:pPr>
            <a:r>
              <a:rPr lang="en-US" sz="2399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Group Members:</a:t>
            </a:r>
          </a:p>
          <a:p>
            <a:pPr algn="l">
              <a:lnSpc>
                <a:spcPts val="3830"/>
              </a:lnSpc>
            </a:pPr>
            <a:endParaRPr lang="en-US" sz="2399" dirty="0">
              <a:solidFill>
                <a:srgbClr val="DCD7E5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algn="l">
              <a:lnSpc>
                <a:spcPts val="3032"/>
              </a:lnSpc>
            </a:pPr>
            <a:r>
              <a:rPr lang="en-US" sz="190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P.D.M. </a:t>
            </a:r>
            <a:r>
              <a:rPr lang="en-US" sz="1900" b="1" dirty="0" err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Sathsarani</a:t>
            </a:r>
            <a:r>
              <a:rPr lang="en-US" sz="190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</a:p>
          <a:p>
            <a:pPr algn="l">
              <a:lnSpc>
                <a:spcPts val="3192"/>
              </a:lnSpc>
            </a:pPr>
            <a:r>
              <a:rPr lang="en-US" sz="200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M.K.D.S. </a:t>
            </a:r>
            <a:r>
              <a:rPr lang="en-US" sz="2000" b="1" dirty="0" err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Amarasinghe</a:t>
            </a:r>
            <a:r>
              <a:rPr lang="en-US" sz="200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</a:p>
          <a:p>
            <a:pPr algn="l">
              <a:lnSpc>
                <a:spcPts val="3192"/>
              </a:lnSpc>
            </a:pPr>
            <a:r>
              <a:rPr lang="en-US" sz="200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G. </a:t>
            </a:r>
            <a:r>
              <a:rPr lang="en-US" sz="2000" b="1" dirty="0" err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Darshika</a:t>
            </a:r>
            <a:r>
              <a:rPr lang="en-US" sz="2000" b="1" dirty="0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  <a:r>
              <a:rPr lang="en-US" sz="2000" b="1" dirty="0" err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Nuwangani</a:t>
            </a:r>
            <a:endParaRPr lang="en-US" sz="2000" b="1" dirty="0">
              <a:solidFill>
                <a:srgbClr val="DCD7E5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50238" y="4270628"/>
            <a:ext cx="9486104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52AECD"/>
                </a:solidFill>
                <a:latin typeface="Canva Sans"/>
                <a:ea typeface="Canva Sans"/>
                <a:cs typeface="Canva Sans"/>
                <a:sym typeface="Canva Sans"/>
              </a:rPr>
              <a:t>An NLP-based system to detect spam across SMS, Email, and YouTube comments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380294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97337"/>
            <a:ext cx="6693337" cy="78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78209" y="1590223"/>
            <a:ext cx="2968971" cy="3908974"/>
            <a:chOff x="0" y="0"/>
            <a:chExt cx="3958628" cy="52119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58590" cy="5211826"/>
            </a:xfrm>
            <a:custGeom>
              <a:avLst/>
              <a:gdLst/>
              <a:ahLst/>
              <a:cxnLst/>
              <a:rect l="l" t="t" r="r" b="b"/>
              <a:pathLst>
                <a:path w="3958590" h="5211826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3799332" y="0"/>
                  </a:lnTo>
                  <a:cubicBezTo>
                    <a:pt x="3887343" y="0"/>
                    <a:pt x="3958590" y="71374"/>
                    <a:pt x="3958590" y="159258"/>
                  </a:cubicBezTo>
                  <a:lnTo>
                    <a:pt x="3958590" y="5052568"/>
                  </a:lnTo>
                  <a:cubicBezTo>
                    <a:pt x="3958590" y="5140579"/>
                    <a:pt x="3887216" y="5211826"/>
                    <a:pt x="3799332" y="5211826"/>
                  </a:cubicBezTo>
                  <a:lnTo>
                    <a:pt x="159258" y="5211826"/>
                  </a:lnTo>
                  <a:cubicBezTo>
                    <a:pt x="71374" y="5211953"/>
                    <a:pt x="0" y="5140706"/>
                    <a:pt x="0" y="5052695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28700" y="1810626"/>
            <a:ext cx="2373363" cy="1391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Multi-Platform Threat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5260" y="3235376"/>
            <a:ext cx="2496803" cy="190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Unsolicited spam spans SMS, Email, and social media comments.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994359" y="1590223"/>
            <a:ext cx="2968971" cy="3908974"/>
            <a:chOff x="0" y="0"/>
            <a:chExt cx="3958628" cy="52119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58590" cy="5211826"/>
            </a:xfrm>
            <a:custGeom>
              <a:avLst/>
              <a:gdLst/>
              <a:ahLst/>
              <a:cxnLst/>
              <a:rect l="l" t="t" r="r" b="b"/>
              <a:pathLst>
                <a:path w="3958590" h="5211826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3799332" y="0"/>
                  </a:lnTo>
                  <a:cubicBezTo>
                    <a:pt x="3887343" y="0"/>
                    <a:pt x="3958590" y="71374"/>
                    <a:pt x="3958590" y="159258"/>
                  </a:cubicBezTo>
                  <a:lnTo>
                    <a:pt x="3958590" y="5052568"/>
                  </a:lnTo>
                  <a:cubicBezTo>
                    <a:pt x="3958590" y="5140579"/>
                    <a:pt x="3887216" y="5211826"/>
                    <a:pt x="3799332" y="5211826"/>
                  </a:cubicBezTo>
                  <a:lnTo>
                    <a:pt x="159258" y="5211826"/>
                  </a:lnTo>
                  <a:cubicBezTo>
                    <a:pt x="71374" y="5211953"/>
                    <a:pt x="0" y="5140706"/>
                    <a:pt x="0" y="5052695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292158" y="1810626"/>
            <a:ext cx="2373363" cy="1391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Inefficient Manual Filtering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92158" y="3478263"/>
            <a:ext cx="2671172" cy="142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Manual review is slow and error-prone.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385147" y="1590223"/>
            <a:ext cx="2968971" cy="3908974"/>
            <a:chOff x="0" y="0"/>
            <a:chExt cx="3958628" cy="52119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58590" cy="5211826"/>
            </a:xfrm>
            <a:custGeom>
              <a:avLst/>
              <a:gdLst/>
              <a:ahLst/>
              <a:cxnLst/>
              <a:rect l="l" t="t" r="r" b="b"/>
              <a:pathLst>
                <a:path w="3958590" h="5211826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3799332" y="0"/>
                  </a:lnTo>
                  <a:cubicBezTo>
                    <a:pt x="3887343" y="0"/>
                    <a:pt x="3958590" y="71374"/>
                    <a:pt x="3958590" y="159258"/>
                  </a:cubicBezTo>
                  <a:lnTo>
                    <a:pt x="3958590" y="5052568"/>
                  </a:lnTo>
                  <a:cubicBezTo>
                    <a:pt x="3958590" y="5140579"/>
                    <a:pt x="3887216" y="5211826"/>
                    <a:pt x="3799332" y="5211826"/>
                  </a:cubicBezTo>
                  <a:lnTo>
                    <a:pt x="159258" y="5211826"/>
                  </a:lnTo>
                  <a:cubicBezTo>
                    <a:pt x="71374" y="5211953"/>
                    <a:pt x="0" y="5140706"/>
                    <a:pt x="0" y="5052695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938258" y="1810626"/>
            <a:ext cx="1824276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High Risk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30105" y="2506713"/>
            <a:ext cx="2373363" cy="239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Phishing links, malicious URLs, and deceptive marketing proliferate.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78209" y="6862621"/>
            <a:ext cx="9675909" cy="2574155"/>
            <a:chOff x="0" y="0"/>
            <a:chExt cx="12605594" cy="33535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605581" cy="3353446"/>
            </a:xfrm>
            <a:custGeom>
              <a:avLst/>
              <a:gdLst/>
              <a:ahLst/>
              <a:cxnLst/>
              <a:rect l="l" t="t" r="r" b="b"/>
              <a:pathLst>
                <a:path w="12605581" h="3353446">
                  <a:moveTo>
                    <a:pt x="0" y="241550"/>
                  </a:moveTo>
                  <a:cubicBezTo>
                    <a:pt x="0" y="108188"/>
                    <a:pt x="71496" y="0"/>
                    <a:pt x="159627" y="0"/>
                  </a:cubicBezTo>
                  <a:lnTo>
                    <a:pt x="12445954" y="0"/>
                  </a:lnTo>
                  <a:cubicBezTo>
                    <a:pt x="12534085" y="0"/>
                    <a:pt x="12605581" y="108188"/>
                    <a:pt x="12605581" y="241550"/>
                  </a:cubicBezTo>
                  <a:lnTo>
                    <a:pt x="12605581" y="3111896"/>
                  </a:lnTo>
                  <a:cubicBezTo>
                    <a:pt x="12605581" y="3245258"/>
                    <a:pt x="12534085" y="3353446"/>
                    <a:pt x="12445954" y="3353446"/>
                  </a:cubicBezTo>
                  <a:lnTo>
                    <a:pt x="159627" y="3353446"/>
                  </a:lnTo>
                  <a:cubicBezTo>
                    <a:pt x="71496" y="3353612"/>
                    <a:pt x="0" y="3245450"/>
                    <a:pt x="0" y="3111896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28700" y="5823150"/>
            <a:ext cx="4381500" cy="696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99" b="1" dirty="0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Solution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5260" y="6719340"/>
            <a:ext cx="8857274" cy="253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3"/>
              </a:lnSpc>
            </a:pPr>
            <a:r>
              <a:rPr lang="en-US" sz="2545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  </a:t>
            </a:r>
          </a:p>
          <a:p>
            <a:pPr marL="549667" lvl="1" indent="-274834" algn="l">
              <a:lnSpc>
                <a:spcPts val="4063"/>
              </a:lnSpc>
              <a:buFont typeface="Arial"/>
              <a:buChar char="•"/>
            </a:pPr>
            <a:r>
              <a:rPr lang="en-US" sz="2545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Parses raw unstructured text from multiple platforms.     </a:t>
            </a:r>
          </a:p>
          <a:p>
            <a:pPr marL="549667" lvl="1" indent="-274834" algn="l">
              <a:lnSpc>
                <a:spcPts val="4063"/>
              </a:lnSpc>
              <a:buFont typeface="Arial"/>
              <a:buChar char="•"/>
            </a:pPr>
            <a:r>
              <a:rPr lang="en-US" sz="2545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Accurately categorizes content into Spam or Ham (Safe).  </a:t>
            </a:r>
          </a:p>
          <a:p>
            <a:pPr marL="549667" lvl="1" indent="-274834" algn="l">
              <a:lnSpc>
                <a:spcPts val="4063"/>
              </a:lnSpc>
              <a:buFont typeface="Arial"/>
              <a:buChar char="•"/>
            </a:pPr>
            <a:r>
              <a:rPr lang="en-US" sz="2545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Provides confidence scoring and real-time security alerts for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2227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64972"/>
            <a:ext cx="5996702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88956" y="8353416"/>
            <a:ext cx="10422717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GB" sz="200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Final Combined Dataset: 11,818 records</a:t>
            </a:r>
            <a:endParaRPr lang="en-US" sz="2000" b="1" dirty="0">
              <a:solidFill>
                <a:srgbClr val="DCD7E5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8700" y="2109423"/>
            <a:ext cx="5299024" cy="1961031"/>
            <a:chOff x="0" y="0"/>
            <a:chExt cx="7084416" cy="2621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84440" cy="2621783"/>
            </a:xfrm>
            <a:custGeom>
              <a:avLst/>
              <a:gdLst/>
              <a:ahLst/>
              <a:cxnLst/>
              <a:rect l="l" t="t" r="r" b="b"/>
              <a:pathLst>
                <a:path w="7084440" h="2621783">
                  <a:moveTo>
                    <a:pt x="0" y="175739"/>
                  </a:moveTo>
                  <a:cubicBezTo>
                    <a:pt x="0" y="78729"/>
                    <a:pt x="67818" y="0"/>
                    <a:pt x="151384" y="0"/>
                  </a:cubicBezTo>
                  <a:lnTo>
                    <a:pt x="6933057" y="0"/>
                  </a:lnTo>
                  <a:cubicBezTo>
                    <a:pt x="7016623" y="0"/>
                    <a:pt x="7084440" y="78729"/>
                    <a:pt x="7084440" y="175739"/>
                  </a:cubicBezTo>
                  <a:lnTo>
                    <a:pt x="7084440" y="2446048"/>
                  </a:lnTo>
                  <a:cubicBezTo>
                    <a:pt x="7084440" y="2543059"/>
                    <a:pt x="7016623" y="2621783"/>
                    <a:pt x="6933057" y="2621783"/>
                  </a:cubicBezTo>
                  <a:lnTo>
                    <a:pt x="151384" y="2621783"/>
                  </a:lnTo>
                  <a:cubicBezTo>
                    <a:pt x="67818" y="2621783"/>
                    <a:pt x="0" y="2543059"/>
                    <a:pt x="0" y="2446048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  <a:ln w="2857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86618" y="2343159"/>
            <a:ext cx="1075582" cy="390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0340" y="2740666"/>
            <a:ext cx="4695977" cy="117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dirty="0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Original Records: 5,572 </a:t>
            </a:r>
          </a:p>
          <a:p>
            <a:pPr algn="l">
              <a:lnSpc>
                <a:spcPts val="3096"/>
              </a:lnSpc>
            </a:pPr>
            <a:r>
              <a:rPr lang="en-US" sz="2000" dirty="0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Clean Records; 5566</a:t>
            </a:r>
          </a:p>
          <a:p>
            <a:pPr algn="l">
              <a:lnSpc>
                <a:spcPts val="3096"/>
              </a:lnSpc>
            </a:pPr>
            <a:r>
              <a:rPr lang="en-US" sz="2000" dirty="0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(Ham 4,819 / Spam 747)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4464366"/>
            <a:ext cx="5365869" cy="2107248"/>
            <a:chOff x="0" y="0"/>
            <a:chExt cx="7084416" cy="27821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84440" cy="2782170"/>
            </a:xfrm>
            <a:custGeom>
              <a:avLst/>
              <a:gdLst/>
              <a:ahLst/>
              <a:cxnLst/>
              <a:rect l="l" t="t" r="r" b="b"/>
              <a:pathLst>
                <a:path w="7084440" h="2782170">
                  <a:moveTo>
                    <a:pt x="0" y="186490"/>
                  </a:moveTo>
                  <a:cubicBezTo>
                    <a:pt x="0" y="83545"/>
                    <a:pt x="67818" y="0"/>
                    <a:pt x="151384" y="0"/>
                  </a:cubicBezTo>
                  <a:lnTo>
                    <a:pt x="6933057" y="0"/>
                  </a:lnTo>
                  <a:cubicBezTo>
                    <a:pt x="7016623" y="0"/>
                    <a:pt x="7084440" y="83545"/>
                    <a:pt x="7084440" y="186490"/>
                  </a:cubicBezTo>
                  <a:lnTo>
                    <a:pt x="7084440" y="2595686"/>
                  </a:lnTo>
                  <a:cubicBezTo>
                    <a:pt x="7084440" y="2698631"/>
                    <a:pt x="7016623" y="2782170"/>
                    <a:pt x="6933057" y="2782170"/>
                  </a:cubicBezTo>
                  <a:lnTo>
                    <a:pt x="151384" y="2782170"/>
                  </a:lnTo>
                  <a:cubicBezTo>
                    <a:pt x="67818" y="2782170"/>
                    <a:pt x="0" y="2698631"/>
                    <a:pt x="0" y="2595686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  <a:ln w="2857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60340" y="4718599"/>
            <a:ext cx="4695977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6618" y="5177800"/>
            <a:ext cx="4695977" cy="117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dirty="0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Original Records: 4845</a:t>
            </a:r>
          </a:p>
          <a:p>
            <a:pPr algn="l">
              <a:lnSpc>
                <a:spcPts val="3096"/>
              </a:lnSpc>
            </a:pPr>
            <a:r>
              <a:rPr lang="en-US" sz="2000" dirty="0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Cleaned Records:4,770</a:t>
            </a:r>
          </a:p>
          <a:p>
            <a:pPr algn="l">
              <a:lnSpc>
                <a:spcPts val="3096"/>
              </a:lnSpc>
            </a:pPr>
            <a:r>
              <a:rPr lang="en-US" sz="2000" dirty="0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(Ham 2,662 / Spam 2,108)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7028412"/>
            <a:ext cx="5313312" cy="2037546"/>
            <a:chOff x="0" y="0"/>
            <a:chExt cx="7084416" cy="27167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84440" cy="2716753"/>
            </a:xfrm>
            <a:custGeom>
              <a:avLst/>
              <a:gdLst/>
              <a:ahLst/>
              <a:cxnLst/>
              <a:rect l="l" t="t" r="r" b="b"/>
              <a:pathLst>
                <a:path w="7084440" h="2716753">
                  <a:moveTo>
                    <a:pt x="0" y="182105"/>
                  </a:moveTo>
                  <a:cubicBezTo>
                    <a:pt x="0" y="81581"/>
                    <a:pt x="67818" y="0"/>
                    <a:pt x="151384" y="0"/>
                  </a:cubicBezTo>
                  <a:lnTo>
                    <a:pt x="6933057" y="0"/>
                  </a:lnTo>
                  <a:cubicBezTo>
                    <a:pt x="7016623" y="0"/>
                    <a:pt x="7084440" y="81581"/>
                    <a:pt x="7084440" y="182105"/>
                  </a:cubicBezTo>
                  <a:lnTo>
                    <a:pt x="7084440" y="2534653"/>
                  </a:lnTo>
                  <a:cubicBezTo>
                    <a:pt x="7084440" y="2635178"/>
                    <a:pt x="7016623" y="2716753"/>
                    <a:pt x="6933057" y="2716753"/>
                  </a:cubicBezTo>
                  <a:lnTo>
                    <a:pt x="151384" y="2716753"/>
                  </a:lnTo>
                  <a:cubicBezTo>
                    <a:pt x="67818" y="2716753"/>
                    <a:pt x="0" y="2635178"/>
                    <a:pt x="0" y="2534653"/>
                  </a:cubicBez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  <a:ln w="2857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86618" y="7133589"/>
            <a:ext cx="4695977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YouTube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757" y="7652069"/>
            <a:ext cx="4669699" cy="1468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1903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Original Records:1494</a:t>
            </a:r>
          </a:p>
          <a:p>
            <a:pPr algn="l">
              <a:lnSpc>
                <a:spcPts val="2946"/>
              </a:lnSpc>
            </a:pPr>
            <a:r>
              <a:rPr lang="en-US" sz="1903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Cleaned Records:1,482</a:t>
            </a:r>
          </a:p>
          <a:p>
            <a:pPr algn="l">
              <a:lnSpc>
                <a:spcPts val="2946"/>
              </a:lnSpc>
            </a:pPr>
            <a:r>
              <a:rPr lang="en-US" sz="1903">
                <a:solidFill>
                  <a:srgbClr val="52AECD"/>
                </a:solidFill>
                <a:latin typeface="Heebo Light"/>
                <a:ea typeface="Heebo Light"/>
                <a:cs typeface="Heebo Light"/>
                <a:sym typeface="Heebo Light"/>
              </a:rPr>
              <a:t>(Ham 780 / Spam 702)</a:t>
            </a:r>
          </a:p>
          <a:p>
            <a:pPr algn="l">
              <a:lnSpc>
                <a:spcPts val="2946"/>
              </a:lnSpc>
            </a:pPr>
            <a:endParaRPr lang="en-US" sz="1903">
              <a:solidFill>
                <a:srgbClr val="52AECD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6888956" y="2109423"/>
            <a:ext cx="10370344" cy="5876477"/>
            <a:chOff x="0" y="0"/>
            <a:chExt cx="13827125" cy="7835303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3827125" cy="7835265"/>
            </a:xfrm>
            <a:custGeom>
              <a:avLst/>
              <a:gdLst/>
              <a:ahLst/>
              <a:cxnLst/>
              <a:rect l="l" t="t" r="r" b="b"/>
              <a:pathLst>
                <a:path w="13827125" h="7835265">
                  <a:moveTo>
                    <a:pt x="0" y="0"/>
                  </a:moveTo>
                  <a:lnTo>
                    <a:pt x="13827125" y="0"/>
                  </a:lnTo>
                  <a:lnTo>
                    <a:pt x="13827125" y="7835265"/>
                  </a:lnTo>
                  <a:lnTo>
                    <a:pt x="0" y="7835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r="-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840609"/>
            <a:ext cx="18288000" cy="7106644"/>
            <a:chOff x="0" y="0"/>
            <a:chExt cx="26568348" cy="9475525"/>
          </a:xfrm>
        </p:grpSpPr>
        <p:sp>
          <p:nvSpPr>
            <p:cNvPr id="5" name="Freeform 5"/>
            <p:cNvSpPr/>
            <p:nvPr/>
          </p:nvSpPr>
          <p:spPr>
            <a:xfrm rot="6000">
              <a:off x="-8249" y="-23178"/>
              <a:ext cx="26584845" cy="9521882"/>
            </a:xfrm>
            <a:custGeom>
              <a:avLst/>
              <a:gdLst/>
              <a:ahLst/>
              <a:cxnLst/>
              <a:rect l="l" t="t" r="r" b="b"/>
              <a:pathLst>
                <a:path w="26584845" h="9521882">
                  <a:moveTo>
                    <a:pt x="0" y="46370"/>
                  </a:moveTo>
                  <a:lnTo>
                    <a:pt x="26568307" y="0"/>
                  </a:lnTo>
                  <a:lnTo>
                    <a:pt x="26584845" y="9475511"/>
                  </a:lnTo>
                  <a:lnTo>
                    <a:pt x="16538" y="9521882"/>
                  </a:lnTo>
                  <a:close/>
                </a:path>
              </a:pathLst>
            </a:custGeom>
            <a:blipFill>
              <a:blip r:embed="rId4">
                <a:alphaModFix amt="95000"/>
              </a:blip>
              <a:stretch>
                <a:fillRect t="-25340" r="-954" b="-3320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29902" y="760962"/>
            <a:ext cx="16303523" cy="75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NLP Pipeline (End-to-End)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200" y="-24898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2587150"/>
            <a:ext cx="2010090" cy="2010090"/>
            <a:chOff x="0" y="0"/>
            <a:chExt cx="1524800" cy="1524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762" cy="1524762"/>
            </a:xfrm>
            <a:custGeom>
              <a:avLst/>
              <a:gdLst/>
              <a:ahLst/>
              <a:cxnLst/>
              <a:rect l="l" t="t" r="r" b="b"/>
              <a:pathLst>
                <a:path w="1524762" h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638" t="-101652" r="-69933" b="-120443"/>
              </a:stretch>
            </a:blipFill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17430" y="3065827"/>
            <a:ext cx="1426570" cy="1426570"/>
            <a:chOff x="0" y="0"/>
            <a:chExt cx="1524800" cy="15248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524762" cy="1524762"/>
            </a:xfrm>
            <a:custGeom>
              <a:avLst/>
              <a:gdLst/>
              <a:ahLst/>
              <a:cxnLst/>
              <a:rect l="l" t="t" r="r" b="b"/>
              <a:pathLst>
                <a:path w="1524762" h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8305" r="-78308" b="-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439900" y="3099618"/>
            <a:ext cx="1426570" cy="1426570"/>
            <a:chOff x="0" y="0"/>
            <a:chExt cx="1524800" cy="1524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524762" cy="1524762"/>
            </a:xfrm>
            <a:custGeom>
              <a:avLst/>
              <a:gdLst/>
              <a:ahLst/>
              <a:cxnLst/>
              <a:rect l="l" t="t" r="r" b="b"/>
              <a:pathLst>
                <a:path w="1524762" h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8305" r="-78308" b="-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1009650"/>
            <a:ext cx="13654564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Contributions &amp; Feature Extraction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4912519"/>
            <a:ext cx="2910959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P.D.M Sathsarani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5525014"/>
            <a:ext cx="3700310" cy="171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ML: Logistic Regression (TF-IDF) 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DL: LSTM (Tokenization + Padding)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7430" y="4912519"/>
            <a:ext cx="3941170" cy="848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M.K.D.S. </a:t>
            </a:r>
            <a:r>
              <a:rPr lang="en-US" sz="270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Amarasinghe</a:t>
            </a:r>
            <a:r>
              <a:rPr lang="en-US" sz="27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369"/>
              </a:lnSpc>
            </a:pPr>
            <a:endParaRPr lang="en-US" sz="270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17430" y="5438737"/>
            <a:ext cx="3700310" cy="171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ML: SVM (Linear) (Count Vectorization) 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DL: GRU (Tokenization + Padding)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16544" y="4912519"/>
            <a:ext cx="4123855" cy="848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G. </a:t>
            </a:r>
            <a:r>
              <a:rPr lang="en-US" sz="270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Darshika</a:t>
            </a:r>
            <a:r>
              <a:rPr lang="en-US" sz="270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Nuwangani</a:t>
            </a:r>
            <a:endParaRPr lang="en-US" sz="270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369"/>
              </a:lnSpc>
            </a:pPr>
            <a:endParaRPr lang="en-US" sz="270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16545" y="5525014"/>
            <a:ext cx="3700310" cy="98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ML: Random Forest (TF-IDF) • DL: BERT (BERT Tokenizer)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271872"/>
            <a:ext cx="17217923" cy="52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Each member developed and tuned one ML and one DL model for rigorous comparison.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ABFE5B8-0AEE-418E-9A7F-83C52F6D709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9" r="9118" b="38159"/>
          <a:stretch/>
        </p:blipFill>
        <p:spPr>
          <a:xfrm>
            <a:off x="7686949" y="2523635"/>
            <a:ext cx="2146373" cy="2124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D6D88A-FD03-4262-A4CD-8E9E94E8A80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12"/>
          <a:stretch/>
        </p:blipFill>
        <p:spPr>
          <a:xfrm>
            <a:off x="14341645" y="2523635"/>
            <a:ext cx="1623043" cy="21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6536" y="10400"/>
            <a:ext cx="18288000" cy="10287000"/>
            <a:chOff x="75381" y="38251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75381" y="38251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22159"/>
            <a:ext cx="15520154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Evaluation — Performance Benchmarks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0573788"/>
            <a:ext cx="17217923" cy="170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 chart compares overall accuracy across evaluated models; BERT achieved the highest accuracy (98.26%).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99940" y="3086100"/>
            <a:ext cx="3922722" cy="403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ML model — SVM (97.76% Accuracy )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endParaRPr lang="en-US" sz="2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DL model — BERT(98.26% Accuracy )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endParaRPr lang="en-US" sz="2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Overall: BERT (96.93% F1-Score)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endParaRPr lang="en-US" sz="2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DCF5DE-71AA-4504-909B-D36AB28E0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52700"/>
            <a:ext cx="12833083" cy="453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624" y="-762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8271" y="1009650"/>
            <a:ext cx="9553337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Selected Mode: BERT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45345" y="4175476"/>
            <a:ext cx="4680655" cy="1185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63"/>
              </a:lnSpc>
            </a:pPr>
            <a:r>
              <a:rPr lang="en-US" sz="8999" b="1" dirty="0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98.26%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2933700"/>
            <a:ext cx="5396329" cy="412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BERT Was Selected?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984976"/>
            <a:ext cx="10640685" cy="5363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8"/>
              </a:lnSpc>
              <a:spcBef>
                <a:spcPct val="0"/>
              </a:spcBef>
            </a:pPr>
            <a:endParaRPr lang="en-GB" sz="2818" dirty="0">
              <a:solidFill>
                <a:srgbClr val="52AEC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l">
              <a:lnSpc>
                <a:spcPts val="351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Highest overall performance </a:t>
            </a:r>
          </a:p>
          <a:p>
            <a:pPr marL="457200" indent="-457200" algn="l">
              <a:lnSpc>
                <a:spcPts val="351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Understands contextual meaning </a:t>
            </a:r>
          </a:p>
          <a:p>
            <a:pPr marL="457200" indent="-457200" algn="l">
              <a:lnSpc>
                <a:spcPts val="351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Uses both left and right context </a:t>
            </a:r>
          </a:p>
          <a:p>
            <a:pPr marL="457200" indent="-457200" algn="l">
              <a:lnSpc>
                <a:spcPts val="351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Suitable for different text styles </a:t>
            </a:r>
          </a:p>
          <a:p>
            <a:pPr marL="457200" indent="-457200" algn="l">
              <a:lnSpc>
                <a:spcPts val="351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Best F1-Score among our models 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  <a:endParaRPr lang="en-GB" sz="2818" dirty="0">
              <a:solidFill>
                <a:srgbClr val="52AEC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  <a:endParaRPr lang="en-GB" sz="2818" dirty="0">
              <a:solidFill>
                <a:srgbClr val="52AEC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Accuracy: 98.26%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GB" sz="2818" dirty="0">
                <a:solidFill>
                  <a:srgbClr val="52AECD"/>
                </a:solidFill>
                <a:latin typeface="Montserrat"/>
                <a:ea typeface="Montserrat"/>
                <a:cs typeface="Montserrat"/>
                <a:sym typeface="Montserrat"/>
              </a:rPr>
              <a:t>F1-Score: 96.93%</a:t>
            </a:r>
          </a:p>
          <a:p>
            <a:pPr algn="l">
              <a:lnSpc>
                <a:spcPts val="3518"/>
              </a:lnSpc>
              <a:spcBef>
                <a:spcPct val="0"/>
              </a:spcBef>
            </a:pPr>
            <a:endParaRPr lang="en-US" sz="2818" dirty="0">
              <a:solidFill>
                <a:srgbClr val="52AEC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706012"/>
            <a:ext cx="5746671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Features 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637682"/>
            <a:ext cx="564804" cy="564804"/>
          </a:xfrm>
          <a:custGeom>
            <a:avLst/>
            <a:gdLst/>
            <a:ahLst/>
            <a:cxnLst/>
            <a:rect l="l" t="t" r="r" b="b"/>
            <a:pathLst>
              <a:path w="564804" h="564804">
                <a:moveTo>
                  <a:pt x="0" y="0"/>
                </a:moveTo>
                <a:lnTo>
                  <a:pt x="564804" y="0"/>
                </a:lnTo>
                <a:lnTo>
                  <a:pt x="564804" y="564804"/>
                </a:lnTo>
                <a:lnTo>
                  <a:pt x="0" y="564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5000" r="-3500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3417989"/>
            <a:ext cx="3190756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Platform Selection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903316"/>
            <a:ext cx="5504173" cy="342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18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Custom inputs for SMS, Email, or YouTube formats.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92238" y="4645228"/>
            <a:ext cx="564804" cy="564804"/>
          </a:xfrm>
          <a:custGeom>
            <a:avLst/>
            <a:gdLst/>
            <a:ahLst/>
            <a:cxnLst/>
            <a:rect l="l" t="t" r="r" b="b"/>
            <a:pathLst>
              <a:path w="564804" h="564804">
                <a:moveTo>
                  <a:pt x="0" y="0"/>
                </a:moveTo>
                <a:lnTo>
                  <a:pt x="564804" y="0"/>
                </a:lnTo>
                <a:lnTo>
                  <a:pt x="564804" y="564804"/>
                </a:lnTo>
                <a:lnTo>
                  <a:pt x="0" y="564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4999" b="-2499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2238" y="5425526"/>
            <a:ext cx="3158133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Real-time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910863"/>
            <a:ext cx="5347840" cy="342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18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Instant classification via fine-tuned BERT.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6652765"/>
            <a:ext cx="564804" cy="564804"/>
          </a:xfrm>
          <a:custGeom>
            <a:avLst/>
            <a:gdLst/>
            <a:ahLst/>
            <a:cxnLst/>
            <a:rect l="l" t="t" r="r" b="b"/>
            <a:pathLst>
              <a:path w="564804" h="564804">
                <a:moveTo>
                  <a:pt x="0" y="0"/>
                </a:moveTo>
                <a:lnTo>
                  <a:pt x="564804" y="0"/>
                </a:lnTo>
                <a:lnTo>
                  <a:pt x="564804" y="564804"/>
                </a:lnTo>
                <a:lnTo>
                  <a:pt x="0" y="564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2499" b="-1249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7433072"/>
            <a:ext cx="2037755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Safety Tools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918399"/>
            <a:ext cx="5347840" cy="68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18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Confidence scores, keyword highlighting, and URL warnings.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3350" y="3417989"/>
            <a:ext cx="3605650" cy="412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URL Detection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3350" y="3965267"/>
            <a:ext cx="5160050" cy="265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  <a:spcBef>
                <a:spcPct val="0"/>
              </a:spcBef>
            </a:pPr>
            <a:r>
              <a:rPr lang="en-US" sz="1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Warns users about malicious external web links.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8000" y="5425526"/>
            <a:ext cx="4953000" cy="412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Keyword Highlighting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53350" y="7433072"/>
            <a:ext cx="3037165" cy="4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Confidence Score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53350" y="7930963"/>
            <a:ext cx="5347840" cy="342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18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Displays prediction certainty percentage.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53350" y="5826500"/>
            <a:ext cx="5347840" cy="342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1899" dirty="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Automatically flags suspicious phishing keywords.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81000" y="1009650"/>
            <a:ext cx="7509201" cy="779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Ethical Consideration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399" y="2410497"/>
            <a:ext cx="5985603" cy="26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30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Risks: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endParaRPr lang="en-US" sz="30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6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dataset bias,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6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privacy concerns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6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false positives/negatives,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6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over-reliance on automation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9399" y="6001911"/>
            <a:ext cx="5514618" cy="260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Mitigations: </a:t>
            </a:r>
          </a:p>
          <a:p>
            <a:pPr algn="l">
              <a:lnSpc>
                <a:spcPts val="3743"/>
              </a:lnSpc>
              <a:spcBef>
                <a:spcPct val="0"/>
              </a:spcBef>
            </a:pPr>
            <a:endParaRPr lang="en-US" sz="299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diverse datasets</a:t>
            </a: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anonymization</a:t>
            </a: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transparent confidence metrics,</a:t>
            </a:r>
          </a:p>
          <a:p>
            <a:pPr algn="l">
              <a:lnSpc>
                <a:spcPts val="336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human oversight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12891" y="2350326"/>
            <a:ext cx="9484690" cy="5374590"/>
            <a:chOff x="0" y="0"/>
            <a:chExt cx="13872362" cy="786090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872338" cy="7860919"/>
            </a:xfrm>
            <a:custGeom>
              <a:avLst/>
              <a:gdLst/>
              <a:ahLst/>
              <a:cxnLst/>
              <a:rect l="l" t="t" r="r" b="b"/>
              <a:pathLst>
                <a:path w="13872338" h="7860919">
                  <a:moveTo>
                    <a:pt x="0" y="0"/>
                  </a:moveTo>
                  <a:lnTo>
                    <a:pt x="13872338" y="0"/>
                  </a:lnTo>
                  <a:lnTo>
                    <a:pt x="13872338" y="7860919"/>
                  </a:lnTo>
                  <a:lnTo>
                    <a:pt x="0" y="7860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" r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99960"/>
            <a:ext cx="16303523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Next Steps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376783"/>
            <a:ext cx="5254971" cy="2569521"/>
            <a:chOff x="0" y="0"/>
            <a:chExt cx="7006628" cy="34260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06589" cy="3426079"/>
            </a:xfrm>
            <a:custGeom>
              <a:avLst/>
              <a:gdLst/>
              <a:ahLst/>
              <a:cxnLst/>
              <a:rect l="l" t="t" r="r" b="b"/>
              <a:pathLst>
                <a:path w="7006589" h="3426079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205" y="0"/>
                  </a:lnTo>
                  <a:cubicBezTo>
                    <a:pt x="6935215" y="0"/>
                    <a:pt x="7006589" y="71374"/>
                    <a:pt x="7006589" y="159385"/>
                  </a:cubicBezTo>
                  <a:lnTo>
                    <a:pt x="7006589" y="3266694"/>
                  </a:lnTo>
                  <a:cubicBezTo>
                    <a:pt x="7006589" y="3354705"/>
                    <a:pt x="6935215" y="3426079"/>
                    <a:pt x="6847205" y="3426079"/>
                  </a:cubicBezTo>
                  <a:lnTo>
                    <a:pt x="159385" y="3426079"/>
                  </a:lnTo>
                  <a:cubicBezTo>
                    <a:pt x="71374" y="3426079"/>
                    <a:pt x="0" y="3354705"/>
                    <a:pt x="0" y="3266694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285284" y="2665066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Milestones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284" y="3211411"/>
            <a:ext cx="4659363" cy="143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Consolidated 11,818 clean entries; benchmarked 6 models; deployed a web app with live demo.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16443" y="2376783"/>
            <a:ext cx="5254971" cy="2569521"/>
            <a:chOff x="0" y="0"/>
            <a:chExt cx="7006628" cy="34260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06589" cy="3426079"/>
            </a:xfrm>
            <a:custGeom>
              <a:avLst/>
              <a:gdLst/>
              <a:ahLst/>
              <a:cxnLst/>
              <a:rect l="l" t="t" r="r" b="b"/>
              <a:pathLst>
                <a:path w="7006589" h="3426079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205" y="0"/>
                  </a:lnTo>
                  <a:cubicBezTo>
                    <a:pt x="6935215" y="0"/>
                    <a:pt x="7006589" y="71374"/>
                    <a:pt x="7006589" y="159385"/>
                  </a:cubicBezTo>
                  <a:lnTo>
                    <a:pt x="7006589" y="3266694"/>
                  </a:lnTo>
                  <a:cubicBezTo>
                    <a:pt x="7006589" y="3354705"/>
                    <a:pt x="6935215" y="3426079"/>
                    <a:pt x="6847205" y="3426079"/>
                  </a:cubicBezTo>
                  <a:lnTo>
                    <a:pt x="159385" y="3426079"/>
                  </a:lnTo>
                  <a:cubicBezTo>
                    <a:pt x="71374" y="3426079"/>
                    <a:pt x="0" y="3354705"/>
                    <a:pt x="0" y="3266694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814242" y="2665066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Final Selection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4242" y="3211411"/>
            <a:ext cx="4659363" cy="98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Selected BERT for production: 98.26% Accuracy, 96.93% F1.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45401" y="2376783"/>
            <a:ext cx="5254971" cy="2569521"/>
            <a:chOff x="0" y="0"/>
            <a:chExt cx="7006628" cy="34260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6589" cy="3426079"/>
            </a:xfrm>
            <a:custGeom>
              <a:avLst/>
              <a:gdLst/>
              <a:ahLst/>
              <a:cxnLst/>
              <a:rect l="l" t="t" r="r" b="b"/>
              <a:pathLst>
                <a:path w="7006589" h="3426079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205" y="0"/>
                  </a:lnTo>
                  <a:cubicBezTo>
                    <a:pt x="6935215" y="0"/>
                    <a:pt x="7006589" y="71374"/>
                    <a:pt x="7006589" y="159385"/>
                  </a:cubicBezTo>
                  <a:lnTo>
                    <a:pt x="7006589" y="3266694"/>
                  </a:lnTo>
                  <a:cubicBezTo>
                    <a:pt x="7006589" y="3354705"/>
                    <a:pt x="6935215" y="3426079"/>
                    <a:pt x="6847205" y="3426079"/>
                  </a:cubicBezTo>
                  <a:lnTo>
                    <a:pt x="159385" y="3426079"/>
                  </a:lnTo>
                  <a:cubicBezTo>
                    <a:pt x="71374" y="3426079"/>
                    <a:pt x="0" y="3354705"/>
                    <a:pt x="0" y="3266694"/>
                  </a:cubicBezTo>
                  <a:close/>
                </a:path>
              </a:pathLst>
            </a:custGeom>
            <a:solidFill>
              <a:srgbClr val="31136C"/>
            </a:solidFill>
            <a:ln w="9526" cap="sq">
              <a:solidFill>
                <a:srgbClr val="4A2C85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343209" y="2665066"/>
            <a:ext cx="465936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Call to Action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43209" y="3211411"/>
            <a:ext cx="4659363" cy="143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Integrate with platform partners, expand data diversity, and maintain human review for edge cases.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85284" y="5798191"/>
            <a:ext cx="11957592" cy="3460109"/>
            <a:chOff x="0" y="0"/>
            <a:chExt cx="15943456" cy="4613478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5943481" cy="4613529"/>
            </a:xfrm>
            <a:custGeom>
              <a:avLst/>
              <a:gdLst/>
              <a:ahLst/>
              <a:cxnLst/>
              <a:rect l="l" t="t" r="r" b="b"/>
              <a:pathLst>
                <a:path w="15943481" h="4613529">
                  <a:moveTo>
                    <a:pt x="0" y="0"/>
                  </a:moveTo>
                  <a:lnTo>
                    <a:pt x="15943481" y="0"/>
                  </a:lnTo>
                  <a:lnTo>
                    <a:pt x="15943481" y="4613529"/>
                  </a:lnTo>
                  <a:lnTo>
                    <a:pt x="0" y="461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7970" b="-4796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698791" y="2955711"/>
            <a:ext cx="12890418" cy="3126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  <a:spcBef>
                <a:spcPct val="0"/>
              </a:spcBef>
            </a:pPr>
            <a:r>
              <a:rPr lang="en-US" sz="88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 </a:t>
            </a:r>
          </a:p>
          <a:p>
            <a:pPr algn="ctr">
              <a:lnSpc>
                <a:spcPts val="3619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Answers</a:t>
            </a:r>
          </a:p>
          <a:p>
            <a:pPr algn="ctr">
              <a:lnSpc>
                <a:spcPts val="3369"/>
              </a:lnSpc>
              <a:spcBef>
                <a:spcPct val="0"/>
              </a:spcBef>
            </a:pPr>
            <a:endParaRPr lang="en-US" sz="2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369"/>
              </a:lnSpc>
              <a:spcBef>
                <a:spcPct val="0"/>
              </a:spcBef>
            </a:pPr>
            <a:endParaRPr lang="en-US" sz="2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Spam Detector • Group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542</Words>
  <Application>Microsoft Office PowerPoint</Application>
  <PresentationFormat>Custom</PresentationFormat>
  <Paragraphs>134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Montserrat Bold</vt:lpstr>
      <vt:lpstr>Arial</vt:lpstr>
      <vt:lpstr>Times New Roman</vt:lpstr>
      <vt:lpstr>Heebo Bold</vt:lpstr>
      <vt:lpstr>Calibri</vt:lpstr>
      <vt:lpstr>Heebo Light</vt:lpstr>
      <vt:lpstr>Montserrat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Cross-Platform-Spam-Detector.pptx</dc:title>
  <dc:creator>User</dc:creator>
  <cp:lastModifiedBy>ASUS</cp:lastModifiedBy>
  <cp:revision>8</cp:revision>
  <dcterms:created xsi:type="dcterms:W3CDTF">2006-08-16T00:00:00Z</dcterms:created>
  <dcterms:modified xsi:type="dcterms:W3CDTF">2026-08-16T13:17:46Z</dcterms:modified>
  <dc:identifier>DAHSb2JihWk</dc:identifier>
</cp:coreProperties>
</file>